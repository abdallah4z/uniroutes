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1125" r:id="rId2"/>
    <p:sldId id="257" r:id="rId3"/>
    <p:sldId id="354" r:id="rId4"/>
    <p:sldId id="394" r:id="rId5"/>
    <p:sldId id="395" r:id="rId6"/>
    <p:sldId id="397" r:id="rId7"/>
    <p:sldId id="396" r:id="rId8"/>
    <p:sldId id="398" r:id="rId9"/>
    <p:sldId id="374" r:id="rId10"/>
    <p:sldId id="399" r:id="rId11"/>
    <p:sldId id="955" r:id="rId12"/>
    <p:sldId id="948" r:id="rId13"/>
    <p:sldId id="952" r:id="rId14"/>
    <p:sldId id="953" r:id="rId15"/>
    <p:sldId id="403" r:id="rId16"/>
    <p:sldId id="950" r:id="rId17"/>
    <p:sldId id="951" r:id="rId18"/>
    <p:sldId id="954" r:id="rId19"/>
    <p:sldId id="404" r:id="rId20"/>
    <p:sldId id="956" r:id="rId21"/>
    <p:sldId id="1123" r:id="rId22"/>
  </p:sldIdLst>
  <p:sldSz cx="24384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7EC3"/>
    <a:srgbClr val="C7DFF2"/>
    <a:srgbClr val="CA2126"/>
    <a:srgbClr val="2D1263"/>
    <a:srgbClr val="0F0F6E"/>
    <a:srgbClr val="0E0F6E"/>
    <a:srgbClr val="CA2026"/>
    <a:srgbClr val="CB2126"/>
    <a:srgbClr val="0F106D"/>
    <a:srgbClr val="C81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7B4C1-BF38-49FF-B863-A316A0054407}" v="4" dt="2024-03-04T19:34:16.429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A8E33-5D2D-46B0-9D81-22F3486EF52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83EF8-7E23-4133-AF55-377BF7864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5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DCF9E-5C32-42B2-BB1B-6EF1DA287186}" type="slidenum">
              <a:rPr lang="ar-EG" smtClean="0">
                <a:solidFill>
                  <a:prstClr val="black"/>
                </a:solidFill>
              </a:rPr>
              <a:pPr/>
              <a:t>2</a:t>
            </a:fld>
            <a:endParaRPr lang="ar-EG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668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AA5A29-F556-FC0C-300A-D368EEDFA5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BE23AE-41FD-B1B3-A7F9-91F3AC558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4258828"/>
            <a:ext cx="10501744" cy="2608409"/>
          </a:xfrm>
        </p:spPr>
        <p:txBody>
          <a:bodyPr anchor="b">
            <a:normAutofit/>
          </a:bodyPr>
          <a:lstStyle>
            <a:lvl1pPr algn="l">
              <a:defRPr sz="7200" b="1" baseline="0">
                <a:solidFill>
                  <a:srgbClr val="070768"/>
                </a:solidFill>
                <a:latin typeface="Aeonik TRIAL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37824-5779-24FD-BC28-BD5E9D958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799" y="7161069"/>
            <a:ext cx="10501745" cy="3311524"/>
          </a:xfrm>
        </p:spPr>
        <p:txBody>
          <a:bodyPr>
            <a:normAutofit/>
          </a:bodyPr>
          <a:lstStyle>
            <a:lvl1pPr marL="0" indent="0" algn="ctr">
              <a:buNone/>
              <a:defRPr sz="5400" b="1">
                <a:solidFill>
                  <a:srgbClr val="CA2126"/>
                </a:solidFill>
                <a:latin typeface="Aeonik TRIAL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4D322-ADB2-00F4-5C59-D528BF55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5E3E5-D1C8-5888-2243-22649A20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7E4A2-B8EF-5A55-7ABC-4FA9B2BE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9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C220-CF74-9B65-F204-79871B7E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064759"/>
            <a:ext cx="21031200" cy="1407104"/>
          </a:xfrm>
        </p:spPr>
        <p:txBody>
          <a:bodyPr>
            <a:normAutofit/>
          </a:bodyPr>
          <a:lstStyle>
            <a:lvl1pPr>
              <a:defRPr sz="6600" b="1">
                <a:solidFill>
                  <a:srgbClr val="11126E"/>
                </a:solidFill>
                <a:latin typeface="Aeonik T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6626-4569-184A-640E-DC8CFC852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4800">
                <a:latin typeface="Aeonik TRIAL" panose="020B0503030300000000"/>
              </a:defRPr>
            </a:lvl1pPr>
            <a:lvl2pPr>
              <a:defRPr lang="en-US" sz="4400" kern="1200" dirty="0">
                <a:solidFill>
                  <a:schemeClr val="tx1"/>
                </a:solidFill>
                <a:latin typeface="Aeonik TRIAL" panose="020B0503030300000000"/>
                <a:ea typeface="+mn-ea"/>
                <a:cs typeface="+mn-cs"/>
              </a:defRPr>
            </a:lvl2pPr>
            <a:lvl3pPr>
              <a:defRPr lang="en-US" sz="4000" kern="1200" dirty="0">
                <a:solidFill>
                  <a:schemeClr val="tx1"/>
                </a:solidFill>
                <a:latin typeface="Aeonik TRIAL" panose="020B0503030300000000"/>
                <a:ea typeface="+mn-ea"/>
                <a:cs typeface="+mn-cs"/>
              </a:defRPr>
            </a:lvl3pPr>
            <a:lvl4pPr>
              <a:defRPr lang="en-US" sz="3600" kern="1200" dirty="0">
                <a:solidFill>
                  <a:schemeClr val="tx1"/>
                </a:solidFill>
                <a:latin typeface="Aeonik TRIAL" panose="020B0503030300000000"/>
                <a:ea typeface="+mn-ea"/>
                <a:cs typeface="+mn-cs"/>
              </a:defRPr>
            </a:lvl4pPr>
            <a:lvl5pPr>
              <a:defRPr lang="en-US" sz="3600" kern="1200" dirty="0">
                <a:solidFill>
                  <a:schemeClr val="tx1"/>
                </a:solidFill>
                <a:latin typeface="Aeonik TRIAL" panose="020B050303030000000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1EC37-F756-FB56-2445-A96D86A0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67979-D066-F571-908D-06AFE7DC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491CC-BF20-2743-8D0B-2A64EA2E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10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1540-6586-8720-94C3-22309BFC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>
            <a:normAutofit/>
          </a:bodyPr>
          <a:lstStyle>
            <a:lvl1pPr algn="ctr">
              <a:defRPr sz="8800" b="1">
                <a:solidFill>
                  <a:srgbClr val="000061"/>
                </a:solidFill>
                <a:latin typeface="Aeonik T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61368-B384-56BD-4A2B-BB5843BF1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>
            <a:normAutofit/>
          </a:bodyPr>
          <a:lstStyle>
            <a:lvl1pPr marL="0" indent="0" algn="ctr">
              <a:buNone/>
              <a:defRPr sz="6000" b="0">
                <a:solidFill>
                  <a:srgbClr val="C91D23"/>
                </a:solidFill>
                <a:latin typeface="Aeonik TRIAL"/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54A73-D325-D1A9-C120-92F3B59A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76192-82B0-1461-7883-B314A72D2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06F63-A5B4-219E-8D9B-FE4F8998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9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03E5-317D-93B4-DD3D-825B6987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0EA6F-7AE0-7D21-E4AE-61515BF7E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254AD-57E3-3BEA-5299-416170F3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C0E1B-A55F-F2CF-EDF9-53303E3A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66D75-62CD-9EF9-5CA8-CDB0E1D1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603E7-3BF4-618E-3F72-316487E3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9134-E380-F901-B275-5E8FEC70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29634-DDB4-9E75-2CD6-A683E4D00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9D3ED-A3CE-F40D-8672-BF3CB975C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12E606-C5CF-6583-A43C-BEC7321A2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9D660-D77B-EAF4-E0CD-DB8B9A08D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A145A-5C60-EF84-463E-357407F4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8F117-3F75-2DEE-450B-EAE9EAE0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E82C4-E8C1-EBC1-183E-25047F3A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7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F14A-BD1D-2B9C-AB5F-5594ED0D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14D2D-1DAD-28DC-4154-F5FEADCA8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DD453-7425-CBD5-58BF-6DFE86DD9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FADE-8128-9B19-C7B8-7D6D2A35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3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88F960-D29C-EA01-5DD6-C2878AC2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CC79DA-ABDD-F281-1D16-E5C975232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2EFD1-9D8B-C130-0A8F-10FFE0EE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2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323C5-5AAD-6617-0A2C-0DD4175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375E-B9DB-CED0-B2BA-10FBA2D7A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8F3E6-5BE4-1502-90B3-6C59543C2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B1D-2030-1D89-9AFC-0DC62E0B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CB0AF-7DCB-DCE5-8D80-1A3F5392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3D87B-EC84-090C-78BA-2F92E612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B6CE-915A-49F1-14CC-0CA23E8C8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DA5276-20A1-5B4B-A7A0-3DF239FCD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331C2-38C2-703D-CE13-4B3A57BE9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5E719-9A23-1FAD-A9E9-FCC707BA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537DD-B4EF-F521-57DF-ACE20E0F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EB619-86EE-AE44-DBAC-F6DD9904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6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2B25-8F5A-BC15-07B2-CD0F078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37253-3489-C940-80B4-FE3FDF16A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3B60B-7E8D-8C62-FA33-7D0F1326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F87F9-8A20-6B2F-6472-D5B56E86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69A28-F9D9-9B1A-287E-8735B8A2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0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B15B94-1B1C-4AEA-C2FD-58BBAEEF7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6A39D-70F4-BC34-96AE-1A990C601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ED9E8-5536-3E57-5BB2-F4109DF7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3E8C3-19B0-0634-DC67-B9C5384A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05982-5592-B06F-A116-6ED61CCC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6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70A66F-AF0F-15FF-D99E-2BD98A53143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A68FC-3F89-8B9A-EAD7-DF5894C6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E9592-2056-BD79-A163-A5B0BCA9E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6A6A4-332B-B09B-3D7A-FE110E4D7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2E993-2C4A-4698-8E15-B21B6DF93C38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423BC-B0BA-87FF-1CD6-7CF9FE17D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D6141-221C-3900-8BAC-8A785918D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21155-9495-41D6-9070-34FA0CC99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9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51A802-5F10-487D-FB4B-F7C481ECD795}"/>
              </a:ext>
            </a:extLst>
          </p:cNvPr>
          <p:cNvSpPr txBox="1"/>
          <p:nvPr/>
        </p:nvSpPr>
        <p:spPr>
          <a:xfrm>
            <a:off x="990484" y="5744445"/>
            <a:ext cx="1239328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b="1" dirty="0">
                <a:solidFill>
                  <a:schemeClr val="bg2">
                    <a:lumMod val="10000"/>
                  </a:schemeClr>
                </a:solidFill>
                <a:latin typeface="Aeonik TRIAL" panose="020B0503030300000000"/>
                <a:cs typeface="+mj-cs"/>
              </a:rPr>
              <a:t>Project Title</a:t>
            </a:r>
          </a:p>
          <a:p>
            <a:pPr algn="ctr"/>
            <a:r>
              <a:rPr lang="en-US" sz="6400" dirty="0">
                <a:solidFill>
                  <a:schemeClr val="bg2">
                    <a:lumMod val="10000"/>
                  </a:schemeClr>
                </a:solidFill>
                <a:latin typeface="Aeonik TRIAL" panose="020B0503030300000000"/>
                <a:cs typeface="+mj-cs"/>
              </a:rPr>
              <a:t>CSE Graduation Project Presentation</a:t>
            </a:r>
          </a:p>
          <a:p>
            <a:pPr algn="ctr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eonik TRIAL" panose="020B0503030300000000"/>
                <a:cs typeface="+mj-cs"/>
              </a:rPr>
              <a:t>Team and Supervisor Information</a:t>
            </a:r>
          </a:p>
          <a:p>
            <a:pPr algn="ctr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eonik TRIAL" panose="020B0503030300000000"/>
                <a:cs typeface="+mj-cs"/>
              </a:rPr>
              <a:t>--/--/2024</a:t>
            </a:r>
          </a:p>
        </p:txBody>
      </p:sp>
    </p:spTree>
    <p:extLst>
      <p:ext uri="{BB962C8B-B14F-4D97-AF65-F5344CB8AC3E}">
        <p14:creationId xmlns:p14="http://schemas.microsoft.com/office/powerpoint/2010/main" val="3905814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B8DE-DCCC-457A-B054-0CA7D5696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8675"/>
            <a:ext cx="21031200" cy="1658718"/>
          </a:xfrm>
        </p:spPr>
        <p:txBody>
          <a:bodyPr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sz="6400" dirty="0">
                <a:solidFill>
                  <a:srgbClr val="002060"/>
                </a:solidFill>
              </a:rPr>
              <a:t>Outline</a:t>
            </a:r>
            <a:endParaRPr lang="ar-EG" sz="6400" b="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AD758A-948B-45D9-84EE-488A34E546A6}"/>
              </a:ext>
            </a:extLst>
          </p:cNvPr>
          <p:cNvSpPr txBox="1"/>
          <p:nvPr/>
        </p:nvSpPr>
        <p:spPr>
          <a:xfrm>
            <a:off x="6396708" y="3164917"/>
            <a:ext cx="13437288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Introduction and Motivation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Background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Problem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Available Solutions and Proposed Solution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User Analysis and Design Requirements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Literature Review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Methodology and Design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Implementation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Evaluation and Results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 panose="020B050303030000000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3554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BE01392-97EC-C980-A708-E8652E2C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749872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</a:rPr>
              <a:t>Introduction and 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72BC1-0F66-3621-ACF1-7C923C166549}"/>
              </a:ext>
            </a:extLst>
          </p:cNvPr>
          <p:cNvSpPr txBox="1"/>
          <p:nvPr/>
        </p:nvSpPr>
        <p:spPr>
          <a:xfrm>
            <a:off x="2230058" y="3497166"/>
            <a:ext cx="1157078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4800" dirty="0">
                <a:latin typeface="Aeonik TRIAL" panose="020B0503030300000000"/>
              </a:rPr>
              <a:t>State the purpose of your presentation and present your team members and their responsibilities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4800" dirty="0">
                <a:latin typeface="Aeonik TRIAL" panose="020B0503030300000000"/>
              </a:rPr>
              <a:t>Catch your audience with an engaging and motivating introduction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4800" dirty="0">
                <a:latin typeface="Aeonik TRIAL" panose="020B0503030300000000"/>
              </a:rPr>
              <a:t>Tell a story that you will use to demonstrate and build on throughout your presentation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4800" dirty="0">
                <a:latin typeface="Aeonik TRIAL" panose="020B0503030300000000"/>
              </a:rPr>
              <a:t>Less text and more visuals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BE01392-97EC-C980-A708-E8652E2C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105280"/>
            <a:ext cx="21031200" cy="1105448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dirty="0"/>
              <a:t>Background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E6B2D-235A-9998-67D1-5B5ADD8E052E}"/>
              </a:ext>
            </a:extLst>
          </p:cNvPr>
          <p:cNvSpPr txBox="1"/>
          <p:nvPr/>
        </p:nvSpPr>
        <p:spPr>
          <a:xfrm>
            <a:off x="2230058" y="3497167"/>
            <a:ext cx="1157078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ar-EG"/>
            </a:defPPr>
            <a:lvl1pPr marL="457200" indent="-457200" algn="l" rtl="0">
              <a:buFont typeface="Arial" panose="020B0604020202020204" pitchFamily="34" charset="0"/>
              <a:buChar char="•"/>
              <a:defRPr sz="2400"/>
            </a:lvl1pPr>
          </a:lstStyle>
          <a:p>
            <a:r>
              <a:rPr lang="en-US" altLang="en-US" sz="4800" dirty="0">
                <a:latin typeface="Aeonik TRIAL" panose="020B0503030300000000"/>
              </a:rPr>
              <a:t>Provide some background information to give context to your project</a:t>
            </a:r>
          </a:p>
          <a:p>
            <a:r>
              <a:rPr lang="en-US" altLang="en-US" sz="4800" dirty="0">
                <a:latin typeface="Aeonik TRIAL" panose="020B0503030300000000"/>
              </a:rPr>
              <a:t>Define important keywords that you will use </a:t>
            </a:r>
          </a:p>
          <a:p>
            <a:r>
              <a:rPr lang="en-US" altLang="en-US" sz="4800" dirty="0">
                <a:latin typeface="Aeonik TRIAL" panose="020B0503030300000000"/>
              </a:rPr>
              <a:t>Describe how this landscape currently functions and focus on what is relevant to your problem including relevant theories and concepts.</a:t>
            </a:r>
          </a:p>
        </p:txBody>
      </p:sp>
    </p:spTree>
    <p:extLst>
      <p:ext uri="{BB962C8B-B14F-4D97-AF65-F5344CB8AC3E}">
        <p14:creationId xmlns:p14="http://schemas.microsoft.com/office/powerpoint/2010/main" val="73166544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BE01392-97EC-C980-A708-E8652E2C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198146"/>
            <a:ext cx="21031200" cy="1105448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Problem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A6440BD-06EC-846C-C733-12A736564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040" y="3563330"/>
            <a:ext cx="13711064" cy="7107812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en-US" dirty="0"/>
              <a:t>Make the audience personally connect with the problem </a:t>
            </a:r>
          </a:p>
          <a:p>
            <a:pPr lvl="1" algn="l"/>
            <a:r>
              <a:rPr lang="en-US" altLang="en-US" sz="3800" dirty="0"/>
              <a:t>Describe the problem based on your initial motivational story and its effect</a:t>
            </a:r>
          </a:p>
          <a:p>
            <a:pPr lvl="1" algn="l"/>
            <a:r>
              <a:rPr lang="en-US" altLang="en-US" sz="3800" dirty="0"/>
              <a:t>Give examples from their everyday lives if applicable</a:t>
            </a:r>
          </a:p>
          <a:p>
            <a:pPr algn="l"/>
            <a:r>
              <a:rPr lang="en-US" altLang="en-US" dirty="0"/>
              <a:t>Show how important it is</a:t>
            </a:r>
          </a:p>
          <a:p>
            <a:pPr lvl="1" algn="l"/>
            <a:r>
              <a:rPr lang="en-US" altLang="en-US" sz="3800" dirty="0"/>
              <a:t>With international numbers  </a:t>
            </a:r>
          </a:p>
          <a:p>
            <a:pPr lvl="1" algn="l"/>
            <a:r>
              <a:rPr lang="en-US" altLang="en-US" sz="3800" dirty="0"/>
              <a:t>With local numbers or your survey results</a:t>
            </a:r>
          </a:p>
          <a:p>
            <a:pPr algn="l"/>
            <a:r>
              <a:rPr lang="en-US" altLang="en-US" dirty="0"/>
              <a:t>Show why you chose this problem and what your aim is</a:t>
            </a:r>
          </a:p>
        </p:txBody>
      </p:sp>
    </p:spTree>
    <p:extLst>
      <p:ext uri="{BB962C8B-B14F-4D97-AF65-F5344CB8AC3E}">
        <p14:creationId xmlns:p14="http://schemas.microsoft.com/office/powerpoint/2010/main" val="343438188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A6440BD-06EC-846C-C733-12A736564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593" y="3547746"/>
            <a:ext cx="14863314" cy="7126664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en-US" dirty="0"/>
              <a:t>Provide a feature matrix of available solutions which address the same problem</a:t>
            </a:r>
          </a:p>
          <a:p>
            <a:pPr algn="l"/>
            <a:r>
              <a:rPr lang="en-US" altLang="en-US" dirty="0"/>
              <a:t>Show what they lack and why</a:t>
            </a:r>
          </a:p>
          <a:p>
            <a:pPr algn="l"/>
            <a:r>
              <a:rPr lang="en-US" altLang="en-US" dirty="0"/>
              <a:t>Make it clear why you chose your proposed solution based on the current gap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FC666D-FF55-CB12-EA4A-6A01B673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8" y="2011244"/>
            <a:ext cx="21031200" cy="1105448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Available Solutions</a:t>
            </a:r>
          </a:p>
        </p:txBody>
      </p:sp>
    </p:spTree>
    <p:extLst>
      <p:ext uri="{BB962C8B-B14F-4D97-AF65-F5344CB8AC3E}">
        <p14:creationId xmlns:p14="http://schemas.microsoft.com/office/powerpoint/2010/main" val="196044070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BE01392-97EC-C980-A708-E8652E2C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8" y="2011244"/>
            <a:ext cx="21031200" cy="1105448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Proposed Solution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68E1AE-10A8-A774-308E-01CFB823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4149" y="3796488"/>
            <a:ext cx="14863314" cy="6537804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en-US" dirty="0"/>
              <a:t>Describe your main focus and goal</a:t>
            </a:r>
          </a:p>
          <a:p>
            <a:pPr algn="l"/>
            <a:r>
              <a:rPr lang="en-US" altLang="en-US" dirty="0"/>
              <a:t>Which specific aspect of the problem will you focus on and why</a:t>
            </a:r>
          </a:p>
          <a:p>
            <a:pPr algn="l"/>
            <a:endParaRPr lang="en-US" altLang="en-US" dirty="0"/>
          </a:p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44078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A6440BD-06EC-846C-C733-12A736564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8069" y="3773987"/>
            <a:ext cx="14863314" cy="5336326"/>
          </a:xfrm>
          <a:noFill/>
        </p:spPr>
        <p:txBody>
          <a:bodyPr vert="horz" lIns="182880" tIns="91440" rIns="182880" bIns="91440" rtlCol="0">
            <a:normAutofit/>
          </a:bodyPr>
          <a:lstStyle/>
          <a:p>
            <a:pPr algn="l"/>
            <a:r>
              <a:rPr lang="en-US" altLang="en-US" dirty="0"/>
              <a:t>Discuss the problem from the different user perspectives</a:t>
            </a:r>
          </a:p>
          <a:p>
            <a:pPr algn="l"/>
            <a:r>
              <a:rPr lang="en-US" altLang="en-US" dirty="0"/>
              <a:t>What each user category needs to solve the problem</a:t>
            </a:r>
          </a:p>
          <a:p>
            <a:pPr algn="l"/>
            <a:endParaRPr lang="en-US" alt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8B32F6-EB20-9C4D-04C2-CED83D4DBA56}"/>
              </a:ext>
            </a:extLst>
          </p:cNvPr>
          <p:cNvSpPr txBox="1">
            <a:spLocks/>
          </p:cNvSpPr>
          <p:nvPr/>
        </p:nvSpPr>
        <p:spPr>
          <a:xfrm>
            <a:off x="1676398" y="2011244"/>
            <a:ext cx="21031200" cy="1105448"/>
          </a:xfrm>
          <a:prstGeom prst="rect">
            <a:avLst/>
          </a:prstGeom>
        </p:spPr>
        <p:txBody>
          <a:bodyPr vert="horz" lIns="182880" tIns="91440" rIns="182880" bIns="9144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latin typeface="Aeonik TRIAL" panose="020B0503030300000000"/>
                <a:cs typeface="Calibri" panose="020F0502020204030204" pitchFamily="34" charset="0"/>
              </a:rPr>
              <a:t>User Analysis</a:t>
            </a:r>
          </a:p>
        </p:txBody>
      </p:sp>
    </p:spTree>
    <p:extLst>
      <p:ext uri="{BB962C8B-B14F-4D97-AF65-F5344CB8AC3E}">
        <p14:creationId xmlns:p14="http://schemas.microsoft.com/office/powerpoint/2010/main" val="20357724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3B18EF-1D2A-7919-86A1-8A750AE0535E}"/>
              </a:ext>
            </a:extLst>
          </p:cNvPr>
          <p:cNvSpPr txBox="1"/>
          <p:nvPr/>
        </p:nvSpPr>
        <p:spPr>
          <a:xfrm>
            <a:off x="2779948" y="3850082"/>
            <a:ext cx="11744864" cy="5727444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 panose="020B0503030300000000"/>
              </a:rPr>
              <a:t>Gather User Requirements from Research and your own surveys and/or interviews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 panose="020B0503030300000000"/>
              </a:rPr>
              <a:t>Show which main functionalities you will focus 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 panose="020B0503030300000000"/>
              </a:rPr>
              <a:t>Discuss main and nice-to-have features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b="0" dirty="0">
              <a:latin typeface="Aeonik TRIAL" panose="020B050303030000000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9FFD65A-8104-30A0-A432-739093A11BD2}"/>
              </a:ext>
            </a:extLst>
          </p:cNvPr>
          <p:cNvSpPr txBox="1">
            <a:spLocks/>
          </p:cNvSpPr>
          <p:nvPr/>
        </p:nvSpPr>
        <p:spPr>
          <a:xfrm>
            <a:off x="1676398" y="2011244"/>
            <a:ext cx="21031200" cy="1105448"/>
          </a:xfrm>
          <a:prstGeom prst="rect">
            <a:avLst/>
          </a:prstGeom>
          <a:noFill/>
        </p:spPr>
        <p:txBody>
          <a:bodyPr vert="horz" lIns="182880" tIns="91440" rIns="182880" bIns="9144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latin typeface="Aeonik TRIAL" panose="020B0503030300000000"/>
                <a:cs typeface="Calibri" panose="020F0502020204030204" pitchFamily="34" charset="0"/>
              </a:rPr>
              <a:t>Design Requirements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BE01392-97EC-C980-A708-E8652E2C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  <a:noFill/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18CBC-0591-F573-93C1-4D0C5E23FE9C}"/>
              </a:ext>
            </a:extLst>
          </p:cNvPr>
          <p:cNvSpPr txBox="1"/>
          <p:nvPr/>
        </p:nvSpPr>
        <p:spPr>
          <a:xfrm>
            <a:off x="2779948" y="3850082"/>
            <a:ext cx="11744864" cy="6293160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Compare available literature to decide on your methodology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Explain how you gathered literature and which inclusion criteria you used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Explain how and why you chose the best methodology or combined its elements from specific sources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Be sure to reference everything properly</a:t>
            </a:r>
          </a:p>
        </p:txBody>
      </p:sp>
    </p:spTree>
    <p:extLst>
      <p:ext uri="{BB962C8B-B14F-4D97-AF65-F5344CB8AC3E}">
        <p14:creationId xmlns:p14="http://schemas.microsoft.com/office/powerpoint/2010/main" val="206252612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BE01392-97EC-C980-A708-E8652E2C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18CBC-0591-F573-93C1-4D0C5E23FE9C}"/>
              </a:ext>
            </a:extLst>
          </p:cNvPr>
          <p:cNvSpPr txBox="1"/>
          <p:nvPr/>
        </p:nvSpPr>
        <p:spPr>
          <a:xfrm>
            <a:off x="2779948" y="3850082"/>
            <a:ext cx="11744864" cy="4562398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Explain your chosen methods to conduct your project in more detail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Focus on what makes it different to already available literature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Describe the data collection process and any tools or techniques you used</a:t>
            </a:r>
          </a:p>
        </p:txBody>
      </p:sp>
    </p:spTree>
    <p:extLst>
      <p:ext uri="{BB962C8B-B14F-4D97-AF65-F5344CB8AC3E}">
        <p14:creationId xmlns:p14="http://schemas.microsoft.com/office/powerpoint/2010/main" val="47946674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A6440BD-06EC-846C-C733-12A736564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213" y="3915799"/>
            <a:ext cx="14863314" cy="5336326"/>
          </a:xfrm>
          <a:noFill/>
        </p:spPr>
        <p:txBody>
          <a:bodyPr vert="horz" lIns="182880" tIns="91440" rIns="182880" bIns="91440" rtlCol="0">
            <a:normAutofit/>
          </a:bodyPr>
          <a:lstStyle/>
          <a:p>
            <a:pPr algn="l"/>
            <a:r>
              <a:rPr lang="en-US" altLang="en-US" dirty="0"/>
              <a:t>Show a wireframe of your design</a:t>
            </a:r>
          </a:p>
          <a:p>
            <a:pPr algn="l"/>
            <a:r>
              <a:rPr lang="en-US" altLang="en-US" dirty="0"/>
              <a:t>Show main system components</a:t>
            </a:r>
          </a:p>
          <a:p>
            <a:pPr algn="l"/>
            <a:r>
              <a:rPr lang="en-US" altLang="en-US" dirty="0"/>
              <a:t>Explain main Software Engineering Diagrams</a:t>
            </a:r>
          </a:p>
          <a:p>
            <a:pPr algn="l"/>
            <a:r>
              <a:rPr lang="en-US" altLang="en-US" dirty="0"/>
              <a:t>Show how you refined your design after trying out different approaches</a:t>
            </a:r>
          </a:p>
          <a:p>
            <a:pPr algn="l"/>
            <a:endParaRPr lang="en-US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7993029-DCC7-6B12-005B-95EC7C43E0AF}"/>
              </a:ext>
            </a:extLst>
          </p:cNvPr>
          <p:cNvSpPr txBox="1">
            <a:spLocks/>
          </p:cNvSpPr>
          <p:nvPr/>
        </p:nvSpPr>
        <p:spPr>
          <a:xfrm>
            <a:off x="1676398" y="2011244"/>
            <a:ext cx="21031200" cy="1105448"/>
          </a:xfrm>
          <a:prstGeom prst="rect">
            <a:avLst/>
          </a:prstGeom>
        </p:spPr>
        <p:txBody>
          <a:bodyPr vert="horz" lIns="182880" tIns="91440" rIns="182880" bIns="9144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latin typeface="Aeonik TRIAL" panose="020B0503030300000000"/>
                <a:cs typeface="Calibri" panose="020F0502020204030204" pitchFamily="34" charset="0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179946927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BE01392-97EC-C980-A708-E8652E2C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Available Datasets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18CBC-0591-F573-93C1-4D0C5E23FE9C}"/>
              </a:ext>
            </a:extLst>
          </p:cNvPr>
          <p:cNvSpPr txBox="1"/>
          <p:nvPr/>
        </p:nvSpPr>
        <p:spPr>
          <a:xfrm>
            <a:off x="2761096" y="3802770"/>
            <a:ext cx="11744864" cy="5727444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 panose="020B0503030300000000"/>
              </a:rPr>
              <a:t>Compare Pros and Cons of available datasets which suit your purpose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 panose="020B0503030300000000"/>
              </a:rPr>
              <a:t>Explain why you will choose a certain dataset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b="0" dirty="0">
              <a:latin typeface="Aeonik TRIAL" panose="020B05030303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08810254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BE01392-97EC-C980-A708-E8652E2C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  <a:noFill/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Chosen Dataset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18CBC-0591-F573-93C1-4D0C5E23FE9C}"/>
              </a:ext>
            </a:extLst>
          </p:cNvPr>
          <p:cNvSpPr txBox="1"/>
          <p:nvPr/>
        </p:nvSpPr>
        <p:spPr>
          <a:xfrm>
            <a:off x="2779948" y="3850082"/>
            <a:ext cx="11744864" cy="5727444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 panose="020B0503030300000000"/>
              </a:rPr>
              <a:t>Describe your chosen Dataset in more detail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b="0" dirty="0">
              <a:latin typeface="Aeonik TRIAL" panose="020B05030303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95110805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C81F34-606E-D49E-6853-D491F8B1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  <a:noFill/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AA032-8E5E-3CE8-9822-B62003B01ED1}"/>
              </a:ext>
            </a:extLst>
          </p:cNvPr>
          <p:cNvSpPr txBox="1"/>
          <p:nvPr/>
        </p:nvSpPr>
        <p:spPr>
          <a:xfrm>
            <a:off x="2779948" y="3850082"/>
            <a:ext cx="11744864" cy="5727444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 panose="020B0503030300000000"/>
              </a:rPr>
              <a:t>Describe the software, libraries you used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 panose="020B0503030300000000"/>
              </a:rPr>
              <a:t>Describe the implementation process in more detail</a:t>
            </a:r>
          </a:p>
        </p:txBody>
      </p:sp>
    </p:spTree>
    <p:extLst>
      <p:ext uri="{BB962C8B-B14F-4D97-AF65-F5344CB8AC3E}">
        <p14:creationId xmlns:p14="http://schemas.microsoft.com/office/powerpoint/2010/main" val="197733437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C81F34-606E-D49E-6853-D491F8B1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Prototype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86AC8-60EA-D454-FEC7-F0005F1CE57D}"/>
              </a:ext>
            </a:extLst>
          </p:cNvPr>
          <p:cNvSpPr txBox="1"/>
          <p:nvPr/>
        </p:nvSpPr>
        <p:spPr>
          <a:xfrm>
            <a:off x="2779948" y="3850082"/>
            <a:ext cx="11744864" cy="5727444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Describe which parts of the project you implemented in the prototype and why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Show a demo of your prototype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b="0" dirty="0">
              <a:latin typeface="Aeonik TRIAL"/>
            </a:endParaRPr>
          </a:p>
        </p:txBody>
      </p:sp>
    </p:spTree>
    <p:extLst>
      <p:ext uri="{BB962C8B-B14F-4D97-AF65-F5344CB8AC3E}">
        <p14:creationId xmlns:p14="http://schemas.microsoft.com/office/powerpoint/2010/main" val="396700086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BE01392-97EC-C980-A708-E8652E2C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  <a:noFill/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Evaluation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18CBC-0591-F573-93C1-4D0C5E23FE9C}"/>
              </a:ext>
            </a:extLst>
          </p:cNvPr>
          <p:cNvSpPr txBox="1"/>
          <p:nvPr/>
        </p:nvSpPr>
        <p:spPr>
          <a:xfrm>
            <a:off x="2779948" y="3850082"/>
            <a:ext cx="11744864" cy="5727444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Explain how you chose your evaluation approach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Describe how you plan to conduct your evaluation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Show what steps you have already taken in this regard and how this affected your decisions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b="0" dirty="0">
              <a:latin typeface="Aeonik TRIAL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b="0" dirty="0">
              <a:latin typeface="Aeonik TRIAL"/>
            </a:endParaRPr>
          </a:p>
        </p:txBody>
      </p:sp>
    </p:spTree>
    <p:extLst>
      <p:ext uri="{BB962C8B-B14F-4D97-AF65-F5344CB8AC3E}">
        <p14:creationId xmlns:p14="http://schemas.microsoft.com/office/powerpoint/2010/main" val="37543453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C81F34-606E-D49E-6853-D491F8B1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  <a:noFill/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26B6F-5D0A-101D-6184-D3B0B024ABBC}"/>
              </a:ext>
            </a:extLst>
          </p:cNvPr>
          <p:cNvSpPr txBox="1"/>
          <p:nvPr/>
        </p:nvSpPr>
        <p:spPr>
          <a:xfrm>
            <a:off x="2779947" y="3497169"/>
            <a:ext cx="13980910" cy="8367058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Describe main steps accomplished and any limitations/challenges faced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Which part is ready and which part will be the focus on your future work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Summarizing key findings using graphs, charts, and other visuals for illustration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Discussion of evaluation results until now and how they contributed to your goal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Compare your results to the existing literature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How results will affect your decisions and scope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b="0" dirty="0">
              <a:latin typeface="Aeonik TRIAL"/>
            </a:endParaRPr>
          </a:p>
        </p:txBody>
      </p:sp>
    </p:spTree>
    <p:extLst>
      <p:ext uri="{BB962C8B-B14F-4D97-AF65-F5344CB8AC3E}">
        <p14:creationId xmlns:p14="http://schemas.microsoft.com/office/powerpoint/2010/main" val="286360792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C81F34-606E-D49E-6853-D491F8B1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  <a:noFill/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Conclusion and 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A30CB-AE0A-66BD-DA37-4F59F2D69B46}"/>
              </a:ext>
            </a:extLst>
          </p:cNvPr>
          <p:cNvSpPr txBox="1"/>
          <p:nvPr/>
        </p:nvSpPr>
        <p:spPr>
          <a:xfrm>
            <a:off x="2779946" y="3850082"/>
            <a:ext cx="18675460" cy="7858008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Restate the purpose of your presentation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Explain the contributions and significance of your project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Describe your future directions for your project in detail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How you plan to solve your current challenges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How you plan to improve your workflow in the team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Offer recommendations for future research or improvements to your project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Discuss any potential applications or practical implications of your work</a:t>
            </a:r>
          </a:p>
        </p:txBody>
      </p:sp>
    </p:spTree>
    <p:extLst>
      <p:ext uri="{BB962C8B-B14F-4D97-AF65-F5344CB8AC3E}">
        <p14:creationId xmlns:p14="http://schemas.microsoft.com/office/powerpoint/2010/main" val="98294640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C81F34-606E-D49E-6853-D491F8B1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105448"/>
          </a:xfrm>
          <a:noFill/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A30CB-AE0A-66BD-DA37-4F59F2D69B46}"/>
              </a:ext>
            </a:extLst>
          </p:cNvPr>
          <p:cNvSpPr txBox="1"/>
          <p:nvPr/>
        </p:nvSpPr>
        <p:spPr>
          <a:xfrm>
            <a:off x="2779948" y="3850082"/>
            <a:ext cx="11744864" cy="5727444"/>
          </a:xfrm>
          <a:prstGeom prst="rect">
            <a:avLst/>
          </a:prstGeom>
          <a:noFill/>
        </p:spPr>
        <p:txBody>
          <a:bodyPr vert="horz" lIns="182880" tIns="91440" rIns="182880" bIns="9144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dirty="0">
                <a:latin typeface="Aeonik TRIAL"/>
              </a:rPr>
              <a:t>Provide well-formatted references for any information or literature you mentioned</a:t>
            </a:r>
          </a:p>
        </p:txBody>
      </p:sp>
    </p:spTree>
    <p:extLst>
      <p:ext uri="{BB962C8B-B14F-4D97-AF65-F5344CB8AC3E}">
        <p14:creationId xmlns:p14="http://schemas.microsoft.com/office/powerpoint/2010/main" val="355078927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5A97203-C158-4EED-83F1-57935124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64" y="4549676"/>
            <a:ext cx="23172576" cy="2751522"/>
          </a:xfr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6400" dirty="0">
                <a:solidFill>
                  <a:srgbClr val="000099"/>
                </a:solidFill>
                <a:ea typeface="+mn-ea"/>
                <a:cs typeface="+mn-cs"/>
              </a:rPr>
              <a:t>Thank you</a:t>
            </a:r>
            <a:br>
              <a:rPr lang="en-US" sz="6400" dirty="0">
                <a:solidFill>
                  <a:srgbClr val="000099"/>
                </a:solidFill>
                <a:ea typeface="+mn-ea"/>
                <a:cs typeface="+mn-cs"/>
              </a:rPr>
            </a:br>
            <a:br>
              <a:rPr lang="en-US" sz="6400" dirty="0">
                <a:solidFill>
                  <a:srgbClr val="000099"/>
                </a:solidFill>
                <a:ea typeface="+mn-ea"/>
                <a:cs typeface="+mn-cs"/>
              </a:rPr>
            </a:br>
            <a:r>
              <a:rPr lang="en-US" sz="6400" dirty="0">
                <a:solidFill>
                  <a:srgbClr val="000099"/>
                </a:solidFill>
                <a:ea typeface="+mn-ea"/>
                <a:cs typeface="+mn-c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1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2676</TotalTime>
  <Words>633</Words>
  <Application>Microsoft Office PowerPoint</Application>
  <PresentationFormat>Custom</PresentationFormat>
  <Paragraphs>94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Outline</vt:lpstr>
      <vt:lpstr>Introduction and Motivation</vt:lpstr>
      <vt:lpstr>Background</vt:lpstr>
      <vt:lpstr>Problem</vt:lpstr>
      <vt:lpstr>Available Solutions</vt:lpstr>
      <vt:lpstr>Proposed Solution</vt:lpstr>
      <vt:lpstr>PowerPoint Presentation</vt:lpstr>
      <vt:lpstr>PowerPoint Presentation</vt:lpstr>
      <vt:lpstr>Literature Review</vt:lpstr>
      <vt:lpstr>Methodology</vt:lpstr>
      <vt:lpstr>PowerPoint Presentation</vt:lpstr>
      <vt:lpstr>Available Datasets</vt:lpstr>
      <vt:lpstr>Chosen Dataset Description</vt:lpstr>
      <vt:lpstr>Implementation</vt:lpstr>
      <vt:lpstr>Prototype</vt:lpstr>
      <vt:lpstr>Evaluation Plan</vt:lpstr>
      <vt:lpstr>Results</vt:lpstr>
      <vt:lpstr>Conclusion and Future Work</vt:lpstr>
      <vt:lpstr>References</vt:lpstr>
      <vt:lpstr>Thank you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MainTitle</dc:title>
  <dc:creator>ibrahem eldafrawy</dc:creator>
  <cp:lastModifiedBy>Laila Shoukry</cp:lastModifiedBy>
  <cp:revision>48</cp:revision>
  <dcterms:created xsi:type="dcterms:W3CDTF">2024-02-12T07:53:43Z</dcterms:created>
  <dcterms:modified xsi:type="dcterms:W3CDTF">2024-09-24T13:48:25Z</dcterms:modified>
</cp:coreProperties>
</file>